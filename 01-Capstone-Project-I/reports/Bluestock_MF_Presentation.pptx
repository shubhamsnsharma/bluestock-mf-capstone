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206030"/>
            <a:ext cx="449935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262684"/>
            <a:ext cx="48821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FINTECH · CAPSTONE PROJECT · AUGUST 2026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568773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Bluestock Mutual Fund Analytics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61475" y="350192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Data Engineering, Performance Analytics &amp; Interactive Dashboard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06419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3494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Shubham Sharma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180"/>
            <a:ext cx="911103" cy="183654"/>
          </a:xfrm>
          <a:prstGeom prst="roundRect">
            <a:avLst>
              <a:gd name="adj" fmla="val 22127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34002" y="559395"/>
            <a:ext cx="1375634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37691"/>
            <a:ext cx="10868745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5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269405"/>
            <a:ext cx="10868745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Mutual fund analysis requires combining multiple datasets — fund metadata, NAV history, AUM, SIP activity, investor transactions, and benchmark indices — into a single analytical platform. This project addresses that challenge across eight objectives.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673721"/>
            <a:ext cx="53956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8670" y="1800920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382" y="1900634"/>
            <a:ext cx="163211" cy="163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670" y="2240955"/>
            <a:ext cx="514128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8670" y="2495153"/>
            <a:ext cx="514128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ingestion, cleaning, and transformation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34443" y="1673721"/>
            <a:ext cx="53957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1638" y="1800920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1350" y="1900634"/>
            <a:ext cx="163211" cy="163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1638" y="2240955"/>
            <a:ext cx="514138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Data Model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61638" y="2495153"/>
            <a:ext cx="5141387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relational structure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1475" y="2858294"/>
            <a:ext cx="53956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8670" y="2985492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382" y="3085207"/>
            <a:ext cx="163211" cy="163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8670" y="3425527"/>
            <a:ext cx="514128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88670" y="3679726"/>
            <a:ext cx="514128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NAV, AUM, SIP, and investor analysis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34443" y="2858294"/>
            <a:ext cx="53957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61638" y="2985492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1350" y="3085207"/>
            <a:ext cx="163211" cy="16321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1638" y="3425527"/>
            <a:ext cx="514138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&amp; Risk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61638" y="3679726"/>
            <a:ext cx="5141387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Return, Sharpe, Sortino, Alpha, Beta, and drawdown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61475" y="4042866"/>
            <a:ext cx="53956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88670" y="4170065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382" y="4269780"/>
            <a:ext cx="163211" cy="16321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8670" y="4610100"/>
            <a:ext cx="514128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 Dashboard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88670" y="4864298"/>
            <a:ext cx="514128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four-page Tableau dashboard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34443" y="4042866"/>
            <a:ext cx="53957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61638" y="4170065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1350" y="4269780"/>
            <a:ext cx="163211" cy="16321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61638" y="4610100"/>
            <a:ext cx="514138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Investor Analysis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61638" y="4864298"/>
            <a:ext cx="5141387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Transaction, demographic, and geographic insights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61475" y="5227439"/>
            <a:ext cx="53956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88670" y="5354638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8382" y="5454352"/>
            <a:ext cx="163211" cy="16321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88670" y="5794673"/>
            <a:ext cx="514128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Benchmark Comparison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788670" y="6048871"/>
            <a:ext cx="514128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versus NIFTY benchmark analysis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134443" y="5227439"/>
            <a:ext cx="5395778" cy="1107281"/>
          </a:xfrm>
          <a:prstGeom prst="roundRect">
            <a:avLst>
              <a:gd name="adj" fmla="val 45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261638" y="5354638"/>
            <a:ext cx="362735" cy="36274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61350" y="5454352"/>
            <a:ext cx="163211" cy="16321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261638" y="5794673"/>
            <a:ext cx="5141387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6261638" y="6048871"/>
            <a:ext cx="5141387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Report, presentation, and reproducible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659"/>
            <a:ext cx="586864" cy="282674"/>
          </a:xfrm>
          <a:prstGeom prst="roundRect">
            <a:avLst>
              <a:gd name="adj" fmla="val 22117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73093" y="632420"/>
            <a:ext cx="97321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2557"/>
            <a:ext cx="10868745" cy="63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8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Sources &amp; Dataset Coverage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475" y="2030016"/>
            <a:ext cx="5207465" cy="3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Primary Data Sources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1475" y="2532955"/>
            <a:ext cx="5207465" cy="137338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AMFI India &amp; mfapi.in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NSE India &amp; BSE India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AMFI Monthly Notes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Provided project CSV datasets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089499"/>
            <a:ext cx="5207465" cy="3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Coverage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475" y="4592439"/>
            <a:ext cx="5207465" cy="137338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mutual fund schemes · 10 datasets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≈46,000 NAV records · ≈32,000 investor transactions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investors · 10 fund houses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4.5+ years NAV history · benchmark index data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9105" y="2030016"/>
            <a:ext cx="5207465" cy="3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Datasets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29105" y="2532955"/>
            <a:ext cx="5207465" cy="173275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Master &amp; NAV History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 by Fund House &amp; Monthly SIP Inflows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Inflows &amp; Industry Folio Count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Performance &amp; Investor Transactions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Holdings &amp; Benchmark Indices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9105" y="4471690"/>
            <a:ext cx="5207465" cy="1603573"/>
          </a:xfrm>
          <a:prstGeom prst="roundRect">
            <a:avLst>
              <a:gd name="adj" fmla="val 4873"/>
            </a:avLst>
          </a:prstGeom>
          <a:solidFill>
            <a:srgbClr val="E0D7F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35" y="4748014"/>
            <a:ext cx="232563" cy="1860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33729" y="4682927"/>
            <a:ext cx="441681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transaction data is synthetic. Some NAV history is simulated forward using realistic parameters. This project is for educational and analytical purposes only — not investment advice.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6834"/>
            <a:ext cx="872806" cy="186630"/>
          </a:xfrm>
          <a:prstGeom prst="roundRect">
            <a:avLst>
              <a:gd name="adj" fmla="val 2211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743645"/>
            <a:ext cx="1335153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25314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&amp; Analytics Architecture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620" y="1467346"/>
            <a:ext cx="7006454" cy="30214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64093" y="3905848"/>
            <a:ext cx="1748475" cy="21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64093" y="3206441"/>
            <a:ext cx="1748475" cy="21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64093" y="2514098"/>
            <a:ext cx="1748475" cy="21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4093" y="1814691"/>
            <a:ext cx="1748475" cy="21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8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457854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end-to-end pipeline flows from raw data extraction through transformation, loading, analysis, and visualization — each stage handled by a dedicated tool in the technology stack.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1475" y="4910237"/>
            <a:ext cx="5284556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Star Schema — Analytical Data Model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5201146"/>
            <a:ext cx="5284556" cy="514251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Dimensions: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dim_fund, dim_date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Facts: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fact_nav, fact_transactions, fact_performance, fact_aum, fact_sip_industry, fact_portfolio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2014" y="4910237"/>
            <a:ext cx="5284556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52014" y="5201146"/>
            <a:ext cx="5284556" cy="922139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Pandas, NumPy, SciPy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/ SQL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Relational data model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Jupyter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Exploratory analysis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Tableau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Interactive BI dashboard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/ GitHub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Version control &amp; reproducibility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3738"/>
            <a:ext cx="455601" cy="254397"/>
          </a:xfrm>
          <a:prstGeom prst="roundRect">
            <a:avLst>
              <a:gd name="adj" fmla="val 22117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61882" y="743942"/>
            <a:ext cx="86437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07467"/>
            <a:ext cx="10868745" cy="575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7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Highlight: Industry Growth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41290"/>
            <a:ext cx="5132755" cy="2887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70330" y="1953816"/>
            <a:ext cx="4666141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3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Reference Metrics — December 2025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70330" y="2389981"/>
            <a:ext cx="4666141" cy="2079625"/>
          </a:xfrm>
          <a:prstGeom prst="rect">
            <a:avLst/>
          </a:prstGeom>
          <a:noFill/>
          <a:ln/>
        </p:spPr>
        <p:txBody>
          <a:bodyPr wrap="square" lIns="0" tIns="66983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benchmark AUM: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≈₹81 lakh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AMC AUM in dashboard: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₹62.74 lakh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SBI Mutual Fund leads at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₹12.50 lakh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ICICI Prudential MF: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₹10.74 lakh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HDFC Mutual Fund: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₹9.30 lakh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SIP inflow: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₹31,002 crore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folios: 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26.12 crore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70330" y="4636492"/>
            <a:ext cx="4666141" cy="1360884"/>
          </a:xfrm>
          <a:prstGeom prst="roundRect">
            <a:avLst>
              <a:gd name="adj" fmla="val 5168"/>
            </a:avLst>
          </a:prstGeom>
          <a:solidFill>
            <a:srgbClr val="E0D7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708" y="4864199"/>
            <a:ext cx="209247" cy="1673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4332" y="4811713"/>
            <a:ext cx="3954760" cy="101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distinction: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₹62.74 lakh crore represents the Top 10 AMC AUM in the dashboard dataset. The wider industry benchmark of ≈₹81 lakh crore covers all registered AMCs. These are not the same metric.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2150"/>
            <a:ext cx="385951" cy="215305"/>
          </a:xfrm>
          <a:prstGeom prst="roundRect">
            <a:avLst>
              <a:gd name="adj" fmla="val 22123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34616"/>
            <a:ext cx="8254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9920"/>
            <a:ext cx="10868745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Highlight: Investor &amp; Category Behaviour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702891"/>
            <a:ext cx="5261439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Investor Dataset Profile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052836"/>
            <a:ext cx="5261439" cy="66972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≈32,000 transactions across 5,000 investors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Indian states · SIP, Lumpsum, and Redemption types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Fields: age group, city tier, demographics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828826"/>
            <a:ext cx="5261439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FY25 Top-5 Category Net Inflows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1475" y="3192066"/>
            <a:ext cx="5261439" cy="2075656"/>
          </a:xfrm>
          <a:prstGeom prst="roundRect">
            <a:avLst>
              <a:gd name="adj" fmla="val 286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475" y="3540125"/>
            <a:ext cx="52614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885009"/>
            <a:ext cx="52614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229894"/>
            <a:ext cx="52614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574778"/>
            <a:ext cx="52614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4919663"/>
            <a:ext cx="52614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9605" y="3268464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21255" y="3268464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 Inflow (₹ Cr)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605" y="3613348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21255" y="3613348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451,275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605" y="3958233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Sectoral / Thematic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1255" y="3958233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103,829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605" y="4303117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 Cap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21255" y="4303117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63,989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605" y="4648002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&amp; Mid Cap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21255" y="4648002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57,752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605" y="4992886"/>
            <a:ext cx="373787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Duration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1255" y="4992886"/>
            <a:ext cx="216321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55,530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5387280"/>
            <a:ext cx="5261439" cy="659011"/>
          </a:xfrm>
          <a:prstGeom prst="roundRect">
            <a:avLst>
              <a:gd name="adj" fmla="val 9035"/>
            </a:avLst>
          </a:prstGeom>
          <a:solidFill>
            <a:srgbClr val="E0D7F4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5557341"/>
            <a:ext cx="177200" cy="1416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22037" y="5518348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transaction data is synthetic and is used for analytical demonstration.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75131" y="1702891"/>
            <a:ext cx="5261439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Analyses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275131" y="2052836"/>
            <a:ext cx="5261439" cy="1141016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amount by state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SIP vs Lumpsum vs Redemption breakdown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SIP amount by age group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transaction volume trends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Category-level net inflow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3334"/>
            <a:ext cx="2186032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99988"/>
            <a:ext cx="25688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ANALYTICS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6078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Metrics: Return &amp; Risk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61475" y="19392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performance cannot be assessed by return alone. This project computes a comprehensive set of risk-adjusted metrics.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54275"/>
            <a:ext cx="3496877" cy="1774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2668687"/>
            <a:ext cx="296646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3-Year CAGR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7479" y="310703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sustained compounded return over the period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454275"/>
            <a:ext cx="3496877" cy="17744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363" y="2668687"/>
            <a:ext cx="296646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Sharpe Ratio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663363" y="310703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relative to total volatility · Risk-free rate = 6.5% · Annualized using √252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454275"/>
            <a:ext cx="3496877" cy="17744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49247" y="2668687"/>
            <a:ext cx="296646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Sortino Ratio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349247" y="310703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relative to downside volatility only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17715"/>
            <a:ext cx="3496877" cy="17969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7479" y="4632127"/>
            <a:ext cx="2966467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Annualized Standard Deviation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77479" y="539541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annualized return volatility</a:t>
            </a:r>
            <a:endParaRPr lang="en-US" sz="14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417715"/>
            <a:ext cx="3496877" cy="17969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63363" y="4632127"/>
            <a:ext cx="296646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Maximum Drawdown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4663363" y="507047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 peak-to-trough decline in fund value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2583"/>
            <a:ext cx="1858618" cy="243979"/>
          </a:xfrm>
          <a:prstGeom prst="roundRect">
            <a:avLst>
              <a:gd name="adj" fmla="val 2212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10704"/>
            <a:ext cx="227552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1132"/>
            <a:ext cx="10868745" cy="1104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7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Metrics: Alpha, Beta &amp; Multi-Factor Scorecard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406948"/>
            <a:ext cx="523842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Market-Relative Metrics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819598"/>
            <a:ext cx="5238421" cy="808633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Jensen's Alpha: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OLS regression against NIFTY 100, annualized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Beta: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Fund sensitivity to benchmark movements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Error: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Consistency of fund returns relative to benchmark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3764756"/>
            <a:ext cx="523842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Analytics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1475" y="4177407"/>
            <a:ext cx="523842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VaR at 95% &amp; CVaR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90-day Sharpe Ratio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concentration using HHI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Risk-grade-based fund recommendation logic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98149" y="2406948"/>
            <a:ext cx="523842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Composite Fund Score — Weighted Formula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8149" y="2836664"/>
            <a:ext cx="4452628" cy="3205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513"/>
            <a:ext cx="1017066" cy="258465"/>
          </a:xfrm>
          <a:prstGeom prst="roundRect">
            <a:avLst>
              <a:gd name="adj" fmla="val 22115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595511"/>
            <a:ext cx="142266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4195"/>
            <a:ext cx="10868745" cy="5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74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Dashboard: Industry Overview &amp; Fund Performance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1816199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02189" y="1816199"/>
            <a:ext cx="414386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384723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Overview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AUM, SIP inflows, folios, and AMC-level comparison.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 Performance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Risk-return positioning, composite scorecard, and normalized benchmark comparison against NIFTY 50 and NIFTY 100.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943" y="3246338"/>
            <a:ext cx="4622784" cy="260032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513" y="3246338"/>
            <a:ext cx="4441813" cy="2498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2467" y="5917109"/>
            <a:ext cx="572358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982"/>
            <a:ext cx="1073421" cy="272752"/>
          </a:xfrm>
          <a:prstGeom prst="roundRect">
            <a:avLst>
              <a:gd name="adj" fmla="val 22121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576759"/>
            <a:ext cx="146770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3898"/>
            <a:ext cx="10868745" cy="123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spc="-7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Dashboard: Investor Analytics &amp; SIP Market Trends</a:t>
            </a:r>
            <a:endParaRPr lang="en-US" sz="3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05286"/>
            <a:ext cx="4847012" cy="272643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160" y="2546152"/>
            <a:ext cx="5057351" cy="284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774730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Investor Analytics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State-level transactions, transaction types, age-group SIP behavior, and monthly transaction volume.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SIP &amp; Market Trends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SIP inflows, NIFTY 50 context, and category-level net inflows.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536"/>
            <a:ext cx="772002" cy="243979"/>
          </a:xfrm>
          <a:prstGeom prst="roundRect">
            <a:avLst>
              <a:gd name="adj" fmla="val 22126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589657"/>
            <a:ext cx="118890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0085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7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 &amp; Recommendations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61475" y="1750715"/>
            <a:ext cx="2550949" cy="3225304"/>
          </a:xfrm>
          <a:prstGeom prst="roundRect">
            <a:avLst>
              <a:gd name="adj" fmla="val 2645"/>
            </a:avLst>
          </a:prstGeom>
          <a:solidFill>
            <a:srgbClr val="FDFAF7"/>
          </a:solidFill>
          <a:ln w="19050">
            <a:solidFill>
              <a:srgbClr val="C6BD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156" y="1930400"/>
            <a:ext cx="219158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Industry Scale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156" y="2343051"/>
            <a:ext cx="2191588" cy="1284089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SIP inflow: ₹31,002 crore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folios: 26.12 crore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benchmark AUM: ≈₹81 lakh crore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48946" y="1750715"/>
            <a:ext cx="2550949" cy="3225304"/>
          </a:xfrm>
          <a:prstGeom prst="roundRect">
            <a:avLst>
              <a:gd name="adj" fmla="val 2645"/>
            </a:avLst>
          </a:prstGeom>
          <a:solidFill>
            <a:srgbClr val="FDFAF7"/>
          </a:solidFill>
          <a:ln w="19050">
            <a:solidFill>
              <a:srgbClr val="C6BD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8627" y="1930400"/>
            <a:ext cx="219158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Fund Evaluation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8627" y="2343051"/>
            <a:ext cx="21915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selection should consider risk-adjusted performance, not return alone.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8627" y="3416796"/>
            <a:ext cx="2191588" cy="1379538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3-Year CAGR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Sharpe Ratio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Jensen's Alpha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 Ratio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Drawdown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8149" y="1750715"/>
            <a:ext cx="2550949" cy="3767931"/>
          </a:xfrm>
          <a:prstGeom prst="roundRect">
            <a:avLst>
              <a:gd name="adj" fmla="val 2645"/>
            </a:avLst>
          </a:prstGeom>
          <a:solidFill>
            <a:srgbClr val="FDFAF7"/>
          </a:solidFill>
          <a:ln w="1905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830" y="1930400"/>
            <a:ext cx="219158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Benchmark Context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7830" y="2343051"/>
            <a:ext cx="219158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performance is compared against NIFTY 50 and NIFTY 100 using normalized performance and tracking error.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85621" y="1750715"/>
            <a:ext cx="2550949" cy="3767931"/>
          </a:xfrm>
          <a:prstGeom prst="roundRect">
            <a:avLst>
              <a:gd name="adj" fmla="val 2645"/>
            </a:avLst>
          </a:prstGeom>
          <a:solidFill>
            <a:srgbClr val="FDFAF7"/>
          </a:solidFill>
          <a:ln w="19050">
            <a:solidFill>
              <a:srgbClr val="C6B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5301" y="1930400"/>
            <a:ext cx="219158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Production Readiness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65301" y="2343051"/>
            <a:ext cx="2191588" cy="2995910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synthetic investor transactions with governed real transaction data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simulated forward NAV values with refreshed market data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ETL and validation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scheduled data refresh and stronger data-quality monitoring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1475" y="586591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607863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Automated ETL → Scheduled data refresh → Stronger validation → Secure dashboard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05681"/>
            <a:ext cx="87161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62335"/>
            <a:ext cx="12543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68425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356682" y="23015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Mutual Fund Analytics Capstone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6385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219946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b="1" spc="-6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 &amp; Discussion</a:t>
            </a:r>
            <a:endParaRPr lang="en-US" sz="3250" dirty="0"/>
          </a:p>
        </p:txBody>
      </p:sp>
      <p:sp>
        <p:nvSpPr>
          <p:cNvPr id="8" name="Shape 6"/>
          <p:cNvSpPr/>
          <p:nvPr/>
        </p:nvSpPr>
        <p:spPr>
          <a:xfrm>
            <a:off x="661475" y="407035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426446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Shubham Sharma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1475" y="503485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Bluestock Fintech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2026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2026-08-20T07:30:59Z</dcterms:created>
  <dcterms:modified xsi:type="dcterms:W3CDTF">2026-08-20T07:30:59Z</dcterms:modified>
</cp:coreProperties>
</file>